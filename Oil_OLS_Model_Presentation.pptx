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E8893E"/>
                </a:solidFill>
                <a:latin typeface="Calibri"/>
              </a:rPr>
              <a:t>ENBRIDGE  |  OIL PRICE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Where Is Oil
Headed?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F5F1E8"/>
                </a:solidFill>
                <a:latin typeface="Calibri"/>
              </a:rPr>
              <a:t>A 12-month price outlook through April 2027, built on 23 years of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E0DCD2"/>
                </a:solidFill>
                <a:latin typeface="Calibri"/>
              </a:rPr>
              <a:t>Monthly data 2003 – 2026  |  Forecast horizon: April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The forecast in one slide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532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532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16697A"/>
                </a:solidFill>
                <a:latin typeface="Calibri"/>
              </a:rPr>
              <a:t>Light oil (WTI)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55321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6400" b="1" i="0">
                <a:solidFill>
                  <a:srgbClr val="1A1A2E"/>
                </a:solidFill>
                <a:latin typeface="Cambria"/>
              </a:rPr>
              <a:t>$61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5532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555560"/>
                </a:solidFill>
                <a:latin typeface="Calibri"/>
              </a:rPr>
              <a:t>by April 2027  |  per barrel (2025 dollars)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532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8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532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E8893E"/>
                </a:solidFill>
                <a:latin typeface="Calibri"/>
              </a:rPr>
              <a:t>Heavy oil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20"/>
            <a:ext cx="55321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6400" b="1" i="0">
                <a:solidFill>
                  <a:srgbClr val="1A1A2E"/>
                </a:solidFill>
                <a:latin typeface="Cambria"/>
              </a:rPr>
              <a:t>$57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5532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555560"/>
                </a:solidFill>
                <a:latin typeface="Calibri"/>
              </a:rPr>
              <a:t>by April 2027  |  per barrel (2025 dollars)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9184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1">
                <a:solidFill>
                  <a:srgbClr val="555560"/>
                </a:solidFill>
                <a:latin typeface="Calibri"/>
              </a:rPr>
              <a:t>Today's prices: Light $89  |  Heavy $64.  Both prices forecast to settle below current levels by next fiscal year-end.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113385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mbria"/>
              </a:rPr>
              <a:t>What this deck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1133856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893E"/>
                </a:solidFill>
                <a:latin typeface="Calibri"/>
              </a:rPr>
              <a:t>●  </a:t>
            </a:r>
            <a:r>
              <a:rPr sz="1400" b="1">
                <a:solidFill>
                  <a:srgbClr val="1A1A2E"/>
                </a:solidFill>
                <a:latin typeface="Calibri"/>
              </a:rPr>
              <a:t>Forecast through April 2027</a:t>
            </a:r>
            <a:r>
              <a:rPr sz="1400">
                <a:solidFill>
                  <a:srgbClr val="1A1A2E"/>
                </a:solidFill>
                <a:latin typeface="Calibri"/>
              </a:rPr>
              <a:t> — 12-month projection for both light and heavy oil, with confidence ranges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893E"/>
                </a:solidFill>
                <a:latin typeface="Calibri"/>
              </a:rPr>
              <a:t>●  </a:t>
            </a:r>
            <a:r>
              <a:rPr sz="1400" b="1">
                <a:solidFill>
                  <a:srgbClr val="1A1A2E"/>
                </a:solidFill>
                <a:latin typeface="Calibri"/>
              </a:rPr>
              <a:t>Built on 23 years of monthly data</a:t>
            </a:r>
            <a:r>
              <a:rPr sz="1400">
                <a:solidFill>
                  <a:srgbClr val="1A1A2E"/>
                </a:solidFill>
                <a:latin typeface="Calibri"/>
              </a:rPr>
              <a:t> — supply, demand, dollar strength, geopolitical risk, and conflict history since 2003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893E"/>
                </a:solidFill>
                <a:latin typeface="Calibri"/>
              </a:rPr>
              <a:t>●  </a:t>
            </a:r>
            <a:r>
              <a:rPr sz="1400" b="1">
                <a:solidFill>
                  <a:srgbClr val="1A1A2E"/>
                </a:solidFill>
                <a:latin typeface="Calibri"/>
              </a:rPr>
              <a:t>Four supporting models behind the forecast</a:t>
            </a:r>
            <a:r>
              <a:rPr sz="1400">
                <a:solidFill>
                  <a:srgbClr val="1A1A2E"/>
                </a:solidFill>
                <a:latin typeface="Calibri"/>
              </a:rPr>
              <a:t> — split by oil type (light vs heavy) and conflict length (short vs long); each explains 92–96% of past prices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893E"/>
                </a:solidFill>
                <a:latin typeface="Calibri"/>
              </a:rPr>
              <a:t>●  </a:t>
            </a:r>
            <a:r>
              <a:rPr sz="1400" b="1">
                <a:solidFill>
                  <a:srgbClr val="1A1A2E"/>
                </a:solidFill>
                <a:latin typeface="Calibri"/>
              </a:rPr>
              <a:t>Everything is reproducible from raw data</a:t>
            </a:r>
            <a:r>
              <a:rPr sz="1400">
                <a:solidFill>
                  <a:srgbClr val="1A1A2E"/>
                </a:solidFill>
                <a:latin typeface="Calibri"/>
              </a:rPr>
              <a:t> — one command refreshes the data, refits the models, and regenerates the 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How the model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mbria"/>
              </a:rPr>
              <a:t>We split history into four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6697A"/>
                </a:solidFill>
                <a:latin typeface="Calibri"/>
              </a:rPr>
              <a:t>Light oil (WTI)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E8893E"/>
                </a:solidFill>
                <a:latin typeface="Calibri"/>
              </a:rPr>
              <a:t>Heavy oil (WCS)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48640" cy="1325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1" i="0">
                <a:solidFill>
                  <a:srgbClr val="555560"/>
                </a:solidFill>
                <a:latin typeface="Calibri"/>
              </a:rPr>
              <a:t>Short
conflict
(&lt; 6 mo)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48840"/>
            <a:ext cx="23317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13432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6697A"/>
                </a:solidFill>
                <a:latin typeface="Calibri"/>
              </a:rPr>
              <a:t>Model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5176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mbria"/>
              </a:rPr>
              <a:t>Light  |  Short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148840"/>
            <a:ext cx="23317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8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13432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E8893E"/>
                </a:solidFill>
                <a:latin typeface="Calibri"/>
              </a:rPr>
              <a:t>Model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51760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mbria"/>
              </a:rPr>
              <a:t>Heavy  |  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48640" cy="1325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1" i="0">
                <a:solidFill>
                  <a:srgbClr val="555560"/>
                </a:solidFill>
                <a:latin typeface="Calibri"/>
              </a:rPr>
              <a:t>Long
conflict
(6+ mo)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584448"/>
            <a:ext cx="23317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49040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6697A"/>
                </a:solidFill>
                <a:latin typeface="Calibri"/>
              </a:rPr>
              <a:t>Model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087368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mbria"/>
              </a:rPr>
              <a:t>Light  |  Long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584448"/>
            <a:ext cx="23317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8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749040"/>
            <a:ext cx="2331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E8893E"/>
                </a:solidFill>
                <a:latin typeface="Calibri"/>
              </a:rPr>
              <a:t>Model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087368"/>
            <a:ext cx="2331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mbria"/>
              </a:rPr>
              <a:t>Heavy  |  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mbria"/>
              </a:rPr>
              <a:t>What each model looks 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737360"/>
            <a:ext cx="5486400" cy="2377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828800"/>
            <a:ext cx="5120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E8893E"/>
                </a:solidFill>
                <a:latin typeface="Calibri"/>
              </a:rPr>
              <a:t>INPUTS (8 factors per month)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148840"/>
            <a:ext cx="512064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E8893E"/>
                </a:solidFill>
                <a:latin typeface="Calibri"/>
              </a:rPr>
              <a:t>●  </a:t>
            </a:r>
            <a:r>
              <a:rPr sz="1000">
                <a:solidFill>
                  <a:srgbClr val="F5F1E8"/>
                </a:solidFill>
                <a:latin typeface="Calibri"/>
              </a:rPr>
              <a:t>How much oil the US produced</a:t>
            </a:r>
          </a:p>
          <a:p>
            <a:pPr algn="l">
              <a:lnSpc>
                <a:spcPct val="105000"/>
              </a:lnSpc>
            </a:pPr>
            <a:r>
              <a:rPr sz="1000" b="1">
                <a:solidFill>
                  <a:srgbClr val="E8893E"/>
                </a:solidFill>
                <a:latin typeface="Calibri"/>
              </a:rPr>
              <a:t>●  </a:t>
            </a:r>
            <a:r>
              <a:rPr sz="1000">
                <a:solidFill>
                  <a:srgbClr val="F5F1E8"/>
                </a:solidFill>
                <a:latin typeface="Calibri"/>
              </a:rPr>
              <a:t>How much oil was in storage</a:t>
            </a:r>
          </a:p>
          <a:p>
            <a:pPr algn="l">
              <a:lnSpc>
                <a:spcPct val="105000"/>
              </a:lnSpc>
            </a:pPr>
            <a:r>
              <a:rPr sz="1000" b="1">
                <a:solidFill>
                  <a:srgbClr val="E8893E"/>
                </a:solidFill>
                <a:latin typeface="Calibri"/>
              </a:rPr>
              <a:t>●  </a:t>
            </a:r>
            <a:r>
              <a:rPr sz="1000">
                <a:solidFill>
                  <a:srgbClr val="F5F1E8"/>
                </a:solidFill>
                <a:latin typeface="Calibri"/>
              </a:rPr>
              <a:t>Last month's oil price</a:t>
            </a:r>
          </a:p>
          <a:p>
            <a:pPr algn="l">
              <a:lnSpc>
                <a:spcPct val="105000"/>
              </a:lnSpc>
            </a:pPr>
            <a:r>
              <a:rPr sz="1000" b="1">
                <a:solidFill>
                  <a:srgbClr val="E8893E"/>
                </a:solidFill>
                <a:latin typeface="Calibri"/>
              </a:rPr>
              <a:t>●  </a:t>
            </a:r>
            <a:r>
              <a:rPr sz="1000">
                <a:solidFill>
                  <a:srgbClr val="F5F1E8"/>
                </a:solidFill>
                <a:latin typeface="Calibri"/>
              </a:rPr>
              <a:t>Net exports of oil</a:t>
            </a:r>
          </a:p>
          <a:p>
            <a:pPr algn="l">
              <a:lnSpc>
                <a:spcPct val="105000"/>
              </a:lnSpc>
            </a:pPr>
            <a:r>
              <a:rPr sz="1000" b="1">
                <a:solidFill>
                  <a:srgbClr val="E8893E"/>
                </a:solidFill>
                <a:latin typeface="Calibri"/>
              </a:rPr>
              <a:t>●  </a:t>
            </a:r>
            <a:r>
              <a:rPr sz="1000">
                <a:solidFill>
                  <a:srgbClr val="F5F1E8"/>
                </a:solidFill>
                <a:latin typeface="Calibri"/>
              </a:rPr>
              <a:t>How busy refineries were</a:t>
            </a:r>
          </a:p>
          <a:p>
            <a:pPr algn="l">
              <a:lnSpc>
                <a:spcPct val="105000"/>
              </a:lnSpc>
            </a:pPr>
            <a:r>
              <a:rPr sz="1000" b="1">
                <a:solidFill>
                  <a:srgbClr val="E8893E"/>
                </a:solidFill>
                <a:latin typeface="Calibri"/>
              </a:rPr>
              <a:t>●  </a:t>
            </a:r>
            <a:r>
              <a:rPr sz="1000">
                <a:solidFill>
                  <a:srgbClr val="F5F1E8"/>
                </a:solidFill>
                <a:latin typeface="Calibri"/>
              </a:rPr>
              <a:t>Strength of the US dollar</a:t>
            </a:r>
          </a:p>
          <a:p>
            <a:pPr algn="l">
              <a:lnSpc>
                <a:spcPct val="105000"/>
              </a:lnSpc>
            </a:pPr>
            <a:r>
              <a:rPr sz="1000" b="1">
                <a:solidFill>
                  <a:srgbClr val="E8893E"/>
                </a:solidFill>
                <a:latin typeface="Calibri"/>
              </a:rPr>
              <a:t>●  </a:t>
            </a:r>
            <a:r>
              <a:rPr sz="1000">
                <a:solidFill>
                  <a:srgbClr val="F5F1E8"/>
                </a:solidFill>
                <a:latin typeface="Calibri"/>
              </a:rPr>
              <a:t>Global geopolitical risk score</a:t>
            </a:r>
          </a:p>
          <a:p>
            <a:pPr algn="l">
              <a:lnSpc>
                <a:spcPct val="105000"/>
              </a:lnSpc>
            </a:pPr>
            <a:r>
              <a:rPr sz="1000" b="1">
                <a:solidFill>
                  <a:srgbClr val="E8893E"/>
                </a:solidFill>
                <a:latin typeface="Calibri"/>
              </a:rPr>
              <a:t>●  </a:t>
            </a:r>
            <a:r>
              <a:rPr sz="1000">
                <a:solidFill>
                  <a:srgbClr val="F5F1E8"/>
                </a:solidFill>
                <a:latin typeface="Calibri"/>
              </a:rPr>
              <a:t>Whether the Strait of Hormuz was under threat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5196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mbria"/>
              </a:rPr>
              <a:t>Where the data comes from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17720"/>
            <a:ext cx="548640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93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Federal Reserve</a:t>
            </a:r>
            <a:r>
              <a:rPr sz="1100">
                <a:solidFill>
                  <a:srgbClr val="1A1A2E"/>
                </a:solidFill>
                <a:latin typeface="Calibri"/>
              </a:rPr>
              <a:t> — oil prices, inflation, US dollar index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93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Energy Information Administration</a:t>
            </a:r>
            <a:r>
              <a:rPr sz="1100">
                <a:solidFill>
                  <a:srgbClr val="1A1A2E"/>
                </a:solidFill>
                <a:latin typeface="Calibri"/>
              </a:rPr>
              <a:t> — production, storage, refinery activity, exports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93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Geopolitical Risk Index</a:t>
            </a:r>
            <a:r>
              <a:rPr sz="1100">
                <a:solidFill>
                  <a:srgbClr val="1A1A2E"/>
                </a:solidFill>
                <a:latin typeface="Calibri"/>
              </a:rPr>
              <a:t> — monthly score from a published academic source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893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All prices adjusted for inflation</a:t>
            </a:r>
            <a:r>
              <a:rPr sz="1100">
                <a:solidFill>
                  <a:srgbClr val="1A1A2E"/>
                </a:solidFill>
                <a:latin typeface="Calibri"/>
              </a:rPr>
              <a:t> — shown in today's dollars (2025 base year)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THE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12-month forecast through April 2027</a:t>
            </a:r>
          </a:p>
        </p:txBody>
      </p:sp>
      <p:pic>
        <p:nvPicPr>
          <p:cNvPr id="6" name="Picture 5" descr="07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68096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371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mbria"/>
              </a:rPr>
              <a:t>April 2027 outlook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3657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92024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6697A"/>
                </a:solidFill>
                <a:latin typeface="Calibri"/>
              </a:rPr>
              <a:t>LIGHT OIL (WTI)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19456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mbria"/>
              </a:rPr>
              <a:t>$61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331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55560"/>
                </a:solidFill>
                <a:latin typeface="Calibri"/>
              </a:rPr>
              <a:t>from $89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606040"/>
            <a:ext cx="32918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55560"/>
                </a:solidFill>
                <a:latin typeface="Calibri"/>
              </a:rPr>
              <a:t>95% range: $34 – $112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926080"/>
            <a:ext cx="3657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0175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E8893E"/>
                </a:solidFill>
                <a:latin typeface="Calibri"/>
              </a:rPr>
              <a:t>HEAVY 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291840"/>
            <a:ext cx="32918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Cambria"/>
              </a:rPr>
              <a:t>$57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42900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55560"/>
                </a:solidFill>
                <a:latin typeface="Calibri"/>
              </a:rPr>
              <a:t>from $64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703320"/>
            <a:ext cx="32918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55560"/>
                </a:solidFill>
                <a:latin typeface="Calibri"/>
              </a:rPr>
              <a:t>95% range: $32 – $102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06908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mbria"/>
              </a:rPr>
              <a:t>Why this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434840"/>
            <a:ext cx="3657600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893E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Prices currently elevated by ongoing Israel-Iran conflict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893E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Model expects gradual mean reversion as the spike fades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893E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Heavy-light gap roughly stable around $5–6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893E"/>
                </a:solidFill>
                <a:latin typeface="Calibri"/>
              </a:rPr>
              <a:t>●  </a:t>
            </a:r>
            <a:r>
              <a:rPr sz="1100">
                <a:solidFill>
                  <a:srgbClr val="1A1A2E"/>
                </a:solidFill>
                <a:latin typeface="Calibri"/>
              </a:rPr>
              <a:t>Confidence range widens with horizon — longer = less certain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7772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1">
                <a:solidFill>
                  <a:srgbClr val="555560"/>
                </a:solidFill>
                <a:latin typeface="Calibri"/>
              </a:rPr>
              <a:t>Method: long-conflict regression with supply/demand inputs held at latest values; seasonality recomputed each month.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CHART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Oil prices through major Middle East conflicts</a:t>
            </a:r>
          </a:p>
        </p:txBody>
      </p:sp>
      <p:pic>
        <p:nvPicPr>
          <p:cNvPr id="6" name="Picture 5" descr="01_price_history_with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680960" cy="35450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371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mbria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3657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2008 spike near $200 a barrel</a:t>
            </a:r>
            <a:r>
              <a:rPr sz="1200">
                <a:solidFill>
                  <a:srgbClr val="1A1A2E"/>
                </a:solidFill>
                <a:latin typeface="Calibri"/>
              </a:rPr>
              <a:t> — global demand was huge while supply was tight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2014–2016 crash</a:t>
            </a:r>
            <a:r>
              <a:rPr sz="1200">
                <a:solidFill>
                  <a:srgbClr val="1A1A2E"/>
                </a:solidFill>
                <a:latin typeface="Calibri"/>
              </a:rPr>
              <a:t> — US shale boom flooded the market; the ISIS conflict didn't push prices up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2020 COVID drop near $25</a:t>
            </a:r>
            <a:r>
              <a:rPr sz="1200">
                <a:solidFill>
                  <a:srgbClr val="1A1A2E"/>
                </a:solidFill>
                <a:latin typeface="Calibri"/>
              </a:rPr>
              <a:t> — demand collapsed when the world stopped moving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Light and heavy oil track each other</a:t>
            </a:r>
            <a:r>
              <a:rPr sz="1200">
                <a:solidFill>
                  <a:srgbClr val="1A1A2E"/>
                </a:solidFill>
                <a:latin typeface="Calibri"/>
              </a:rPr>
              <a:t> — they tend to move together, just at different price levels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Conflict periods don't always spike prices</a:t>
            </a:r>
            <a:r>
              <a:rPr sz="1200">
                <a:solidFill>
                  <a:srgbClr val="1A1A2E"/>
                </a:solidFill>
                <a:latin typeface="Calibri"/>
              </a:rPr>
              <a:t> — supply and demand often matter more than wars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Big takeaway</a:t>
            </a:r>
            <a:r>
              <a:rPr sz="1200">
                <a:solidFill>
                  <a:srgbClr val="1A1A2E"/>
                </a:solidFill>
                <a:latin typeface="Calibri"/>
              </a:rPr>
              <a:t> — the economy moves oil more than geopolitics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CHART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How well the model matches reality</a:t>
            </a:r>
          </a:p>
        </p:txBody>
      </p:sp>
      <p:pic>
        <p:nvPicPr>
          <p:cNvPr id="6" name="Picture 5" descr="02_actual_vs_f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680960" cy="55861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371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mbria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3657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Each dot is one month</a:t>
            </a:r>
            <a:r>
              <a:rPr sz="1200">
                <a:solidFill>
                  <a:srgbClr val="1A1A2E"/>
                </a:solidFill>
                <a:latin typeface="Calibri"/>
              </a:rPr>
              <a:t> — the closer to the diagonal line, the better the prediction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All four models hug the line tightly</a:t>
            </a:r>
            <a:r>
              <a:rPr sz="1200">
                <a:solidFill>
                  <a:srgbClr val="1A1A2E"/>
                </a:solidFill>
                <a:latin typeface="Calibri"/>
              </a:rPr>
              <a:t> — the model captures the historic record well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Heavy oil + long conflicts is the best fit</a:t>
            </a:r>
            <a:r>
              <a:rPr sz="1200">
                <a:solidFill>
                  <a:srgbClr val="1A1A2E"/>
                </a:solidFill>
                <a:latin typeface="Calibri"/>
              </a:rPr>
              <a:t> — 96% of price moves explained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Light oil + short conflicts has the most spread</a:t>
            </a:r>
            <a:r>
              <a:rPr sz="1200">
                <a:solidFill>
                  <a:srgbClr val="1A1A2E"/>
                </a:solidFill>
                <a:latin typeface="Calibri"/>
              </a:rPr>
              <a:t> — still a strong 92% fit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Important caveat</a:t>
            </a:r>
            <a:r>
              <a:rPr sz="1200">
                <a:solidFill>
                  <a:srgbClr val="1A1A2E"/>
                </a:solidFill>
                <a:latin typeface="Calibri"/>
              </a:rPr>
              <a:t> — matching the past is easier than predicting the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CHART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Which factors actually matter</a:t>
            </a:r>
          </a:p>
        </p:txBody>
      </p:sp>
      <p:pic>
        <p:nvPicPr>
          <p:cNvPr id="6" name="Picture 5" descr="05_coefficient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680960" cy="4608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371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mbria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3657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Last month's price has the biggest effect</a:t>
            </a:r>
            <a:r>
              <a:rPr sz="1200">
                <a:solidFill>
                  <a:srgbClr val="1A1A2E"/>
                </a:solidFill>
                <a:latin typeface="Calibri"/>
              </a:rPr>
              <a:t> — oil prices have momentum; today builds on yesterday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US dollar strength: strong negative impact</a:t>
            </a:r>
            <a:r>
              <a:rPr sz="1200">
                <a:solidFill>
                  <a:srgbClr val="1A1A2E"/>
                </a:solidFill>
                <a:latin typeface="Calibri"/>
              </a:rPr>
              <a:t> — when the dollar rises, oil priced in dollars tends to fall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More US production = lower prices</a:t>
            </a:r>
            <a:r>
              <a:rPr sz="1200">
                <a:solidFill>
                  <a:srgbClr val="1A1A2E"/>
                </a:solidFill>
                <a:latin typeface="Calibri"/>
              </a:rPr>
              <a:t> — as expected; basic supply and demand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Storage levels behave differently in long conflicts</a:t>
            </a:r>
            <a:r>
              <a:rPr sz="1200">
                <a:solidFill>
                  <a:srgbClr val="1A1A2E"/>
                </a:solidFill>
                <a:latin typeface="Calibri"/>
              </a:rPr>
              <a:t> — people build buffer stocks during sustained tensions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Hormuz threats and risk index: surprisingly small</a:t>
            </a:r>
            <a:r>
              <a:rPr sz="1200">
                <a:solidFill>
                  <a:srgbClr val="1A1A2E"/>
                </a:solidFill>
                <a:latin typeface="Calibri"/>
              </a:rPr>
              <a:t> — their effect on prices is too small to measure reliably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Bars show the range of uncertainty</a:t>
            </a:r>
            <a:r>
              <a:rPr sz="1200">
                <a:solidFill>
                  <a:srgbClr val="1A1A2E"/>
                </a:solidFill>
                <a:latin typeface="Calibri"/>
              </a:rPr>
              <a:t> — bars crossing zero mean the effect could go either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CHART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Quality check on the best model</a:t>
            </a:r>
          </a:p>
        </p:txBody>
      </p:sp>
      <p:pic>
        <p:nvPicPr>
          <p:cNvPr id="6" name="Picture 5" descr="04_diagnostics_heavy_longt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400800" cy="497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371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mbria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3657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These four panels test whether the model is well-behaved</a:t>
            </a:r>
            <a:r>
              <a:rPr sz="1200">
                <a:solidFill>
                  <a:srgbClr val="1A1A2E"/>
                </a:solidFill>
                <a:latin typeface="Calibri"/>
              </a:rPr>
              <a:t> — they look at the leftover errors after each prediction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Top-left and top-right: errors are roughly symmetric</a:t>
            </a:r>
            <a:r>
              <a:rPr sz="1200">
                <a:solidFill>
                  <a:srgbClr val="1A1A2E"/>
                </a:solidFill>
                <a:latin typeface="Calibri"/>
              </a:rPr>
              <a:t> — no systematic bias in either direction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Bottom-left: errors look randomly scattered</a:t>
            </a:r>
            <a:r>
              <a:rPr sz="1200">
                <a:solidFill>
                  <a:srgbClr val="1A1A2E"/>
                </a:solidFill>
                <a:latin typeface="Calibri"/>
              </a:rPr>
              <a:t> — the model isn't missing an obvious pattern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Bottom-right: a small lingering issue</a:t>
            </a:r>
            <a:r>
              <a:rPr sz="1200">
                <a:solidFill>
                  <a:srgbClr val="1A1A2E"/>
                </a:solidFill>
                <a:latin typeface="Calibri"/>
              </a:rPr>
              <a:t> — this month's error nudges next month's, slightly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Practical impact</a:t>
            </a:r>
            <a:r>
              <a:rPr sz="1200">
                <a:solidFill>
                  <a:srgbClr val="1A1A2E"/>
                </a:solidFill>
                <a:latin typeface="Calibri"/>
              </a:rPr>
              <a:t> — predictions are accurate, but our confidence ranges are slightly too tight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Easy fix exists</a:t>
            </a:r>
            <a:r>
              <a:rPr sz="1200">
                <a:solidFill>
                  <a:srgbClr val="1A1A2E"/>
                </a:solidFill>
                <a:latin typeface="Calibri"/>
              </a:rPr>
              <a:t> — switch to a more robust statistical method (one-line code change)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CHART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Which factors overlap with each other</a:t>
            </a:r>
          </a:p>
        </p:txBody>
      </p:sp>
      <p:pic>
        <p:nvPicPr>
          <p:cNvPr id="6" name="Picture 5" descr="06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680960" cy="597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371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mbria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3657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This chart shows which factors move together</a:t>
            </a:r>
            <a:r>
              <a:rPr sz="1200">
                <a:solidFill>
                  <a:srgbClr val="1A1A2E"/>
                </a:solidFill>
                <a:latin typeface="Calibri"/>
              </a:rPr>
              <a:t> — deep red = move in lockstep, deep blue = move opposite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Light and heavy oil prices: nearly identical movement</a:t>
            </a:r>
            <a:r>
              <a:rPr sz="1200">
                <a:solidFill>
                  <a:srgbClr val="1A1A2E"/>
                </a:solidFill>
                <a:latin typeface="Calibri"/>
              </a:rPr>
              <a:t> — that's why we split them into separate models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Production and storage rose together (2010s shale era)</a:t>
            </a:r>
            <a:r>
              <a:rPr sz="1200">
                <a:solidFill>
                  <a:srgbClr val="1A1A2E"/>
                </a:solidFill>
                <a:latin typeface="Calibri"/>
              </a:rPr>
              <a:t> — they share some information but not enough to cause trouble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Dollar strength is mostly independent</a:t>
            </a:r>
            <a:r>
              <a:rPr sz="1200">
                <a:solidFill>
                  <a:srgbClr val="1A1A2E"/>
                </a:solidFill>
                <a:latin typeface="Calibri"/>
              </a:rPr>
              <a:t> — good — its effect on oil is clean and easy to pinpoint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Risk index doesn't track other factors</a:t>
            </a:r>
            <a:r>
              <a:rPr sz="1200">
                <a:solidFill>
                  <a:srgbClr val="1A1A2E"/>
                </a:solidFill>
                <a:latin typeface="Calibri"/>
              </a:rPr>
              <a:t> — explains why its impact on price is hard to nail down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Big takeaway</a:t>
            </a:r>
            <a:r>
              <a:rPr sz="1200">
                <a:solidFill>
                  <a:srgbClr val="1A1A2E"/>
                </a:solidFill>
                <a:latin typeface="Calibri"/>
              </a:rPr>
              <a:t> — no harmful overlap — each factor brings its own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HONEST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What to keep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6697A"/>
                </a:solidFill>
                <a:latin typeface="Cambria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669280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Heavy oil price uses a stand-in</a:t>
            </a:r>
            <a:r>
              <a:rPr sz="1200">
                <a:solidFill>
                  <a:srgbClr val="1A1A2E"/>
                </a:solidFill>
                <a:latin typeface="Calibri"/>
              </a:rPr>
              <a:t> — we used a heavy oil blend that's similar to WCS, since clean WCS history is hard to source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Reliable data only goes back to about 2006</a:t>
            </a:r>
            <a:r>
              <a:rPr sz="1200">
                <a:solidFill>
                  <a:srgbClr val="1A1A2E"/>
                </a:solidFill>
                <a:latin typeface="Calibri"/>
              </a:rPr>
              <a:t> — some sources started later; we use what's complete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Hormuz threat status is a judgment call</a:t>
            </a:r>
            <a:r>
              <a:rPr sz="1200">
                <a:solidFill>
                  <a:srgbClr val="1A1A2E"/>
                </a:solidFill>
                <a:latin typeface="Calibri"/>
              </a:rPr>
              <a:t> — the strait has never actually closed, so we flagged periods of credible threat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Risk index relies on an outside source</a:t>
            </a:r>
            <a:r>
              <a:rPr sz="1200">
                <a:solidFill>
                  <a:srgbClr val="1A1A2E"/>
                </a:solidFill>
                <a:latin typeface="Calibri"/>
              </a:rPr>
              <a:t> — if the source is offline, we fall back to a neutral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A8324E"/>
                </a:solidFill>
                <a:latin typeface="Cambria"/>
              </a:rPr>
              <a:t>Model &amp;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48640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Forecast assumes today's conditions hold</a:t>
            </a:r>
            <a:r>
              <a:rPr sz="1200">
                <a:solidFill>
                  <a:srgbClr val="1A1A2E"/>
                </a:solidFill>
                <a:latin typeface="Calibri"/>
              </a:rPr>
              <a:t> — supply, demand, dollar, and conflict are held at latest values; a regime shift would change things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Confidence range widens with horizon</a:t>
            </a:r>
            <a:r>
              <a:rPr sz="1200">
                <a:solidFill>
                  <a:srgbClr val="1A1A2E"/>
                </a:solidFill>
                <a:latin typeface="Calibri"/>
              </a:rPr>
              <a:t> — by April 2027 the 95% range spans roughly $30–$110; near-term months are tighter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Last month's price drives a lot of prediction</a:t>
            </a:r>
            <a:r>
              <a:rPr sz="1200">
                <a:solidFill>
                  <a:srgbClr val="1A1A2E"/>
                </a:solidFill>
                <a:latin typeface="Calibri"/>
              </a:rPr>
              <a:t> — realistic for oil, but means a sudden shock would push the whole forecast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893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Some factors couldn't be measured cleanly</a:t>
            </a:r>
            <a:r>
              <a:rPr sz="1200">
                <a:solidFill>
                  <a:srgbClr val="1A1A2E"/>
                </a:solidFill>
                <a:latin typeface="Calibri"/>
              </a:rPr>
              <a:t> — Hormuz, geopolitics, refining margins — too rare or too small to detect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66360"/>
            <a:ext cx="11338560" cy="11887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E8893E"/>
                </a:solidFill>
                <a:latin typeface="Calibri"/>
              </a:rPr>
              <a:t>The honest 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7899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F5F1E8"/>
                </a:solidFill>
                <a:latin typeface="Calibri"/>
              </a:rPr>
              <a:t>The forecast is a baseline, not a guarantee. It says: if today's geopolitics, supply, and dollar levels persist, prices drift back toward the model's long-conflict average. A new shock — escalation, a production cut, a recession — would shift the picture meaningfully.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mbria"/>
              </a:rPr>
              <a:t>What to do next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mbria"/>
              </a:rPr>
              <a:t>Tighten the confidence ranges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55560"/>
                </a:solidFill>
                <a:latin typeface="Calibri"/>
              </a:rPr>
              <a:t>A small statistical adjustment will give us more reliable error bars without changing the predictions themselves.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377440"/>
            <a:ext cx="502920" cy="502920"/>
          </a:xfrm>
          <a:prstGeom prst="ellipse">
            <a:avLst/>
          </a:prstGeom>
          <a:solidFill>
            <a:srgbClr val="E8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317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mbria"/>
              </a:rPr>
              <a:t>Get real Western Canadian Select price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974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55560"/>
                </a:solidFill>
                <a:latin typeface="Calibri"/>
              </a:rPr>
              <a:t>We're using a similar heavy-oil blend as a stand-in. Real WCS data would sharpen the heavy-oil models.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337560"/>
            <a:ext cx="502920" cy="502920"/>
          </a:xfrm>
          <a:prstGeom prst="ellipse">
            <a:avLst/>
          </a:prstGeom>
          <a:solidFill>
            <a:srgbClr val="A8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18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mbria"/>
              </a:rPr>
              <a:t>Drop factors that don't measurably affect prices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5760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55560"/>
                </a:solidFill>
                <a:latin typeface="Calibri"/>
              </a:rPr>
              <a:t>Hormuz, geopolitical risk, and refining margins didn't move the needle. Removing them simplifies the story.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297680"/>
            <a:ext cx="502920" cy="502920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9768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519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mbria"/>
              </a:rPr>
              <a:t>Test the model on data it hasn't seen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1772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55560"/>
                </a:solidFill>
                <a:latin typeface="Calibri"/>
              </a:rPr>
              <a:t>Re-fit on 2003–2023 and check how well it predicts 2024–2026. This is the real test of forecasting power.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5257800"/>
            <a:ext cx="502920" cy="502920"/>
          </a:xfrm>
          <a:prstGeom prst="ellipse">
            <a:avLst/>
          </a:prstGeom>
          <a:solidFill>
            <a:srgbClr val="55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5780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2120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mbria"/>
              </a:rPr>
              <a:t>Try a time-series model for long-conflict periods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57784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555560"/>
                </a:solidFill>
                <a:latin typeface="Calibri"/>
              </a:rPr>
              <a:t>Because last month's price has so much weight, a model designed for time series may be a better fit.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5556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F5F1E8"/>
                </a:solidFill>
                <a:latin typeface="Calibri"/>
              </a:rPr>
              <a:t>Everything in this deck is reproducible from raw public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E8893E"/>
                </a:solidFill>
                <a:latin typeface="Calibri"/>
              </a:rPr>
              <a:t>WHAT YOU CAN 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893E"/>
                </a:solidFill>
                <a:latin typeface="Calibri"/>
              </a:rPr>
              <a:t>●  </a:t>
            </a:r>
            <a:r>
              <a:rPr sz="1300">
                <a:solidFill>
                  <a:srgbClr val="F5F1E8"/>
                </a:solidFill>
                <a:latin typeface="Calibri"/>
              </a:rPr>
              <a:t>A 12-month forecast table with prediction and confidence range per month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893E"/>
                </a:solidFill>
                <a:latin typeface="Calibri"/>
              </a:rPr>
              <a:t>●  </a:t>
            </a:r>
            <a:r>
              <a:rPr sz="1300">
                <a:solidFill>
                  <a:srgbClr val="F5F1E8"/>
                </a:solidFill>
                <a:latin typeface="Calibri"/>
              </a:rPr>
              <a:t>A spreadsheet with all four model results and statistical details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893E"/>
                </a:solidFill>
                <a:latin typeface="Calibri"/>
              </a:rPr>
              <a:t>●  </a:t>
            </a:r>
            <a:r>
              <a:rPr sz="1300">
                <a:solidFill>
                  <a:srgbClr val="F5F1E8"/>
                </a:solidFill>
                <a:latin typeface="Calibri"/>
              </a:rPr>
              <a:t>The seven charts shown in this deck, as image files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893E"/>
                </a:solidFill>
                <a:latin typeface="Calibri"/>
              </a:rPr>
              <a:t>●  </a:t>
            </a:r>
            <a:r>
              <a:rPr sz="1300">
                <a:solidFill>
                  <a:srgbClr val="F5F1E8"/>
                </a:solidFill>
                <a:latin typeface="Calibri"/>
              </a:rPr>
              <a:t>The complete monthly dataset and the settings file used to build the forecast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